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F4788"/>
                </a:solidFill>
              </a:defRPr>
            </a:pPr>
            <a:r>
              <a:t>DevOps/SRE Engineer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2E5C8A"/>
                </a:solidFill>
              </a:defRPr>
            </a:pPr>
            <a:r>
              <a:t>Production Readiness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December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Role Overview</a:t>
            </a:r>
          </a:p>
          <a:p>
            <a:pPr>
              <a:defRPr sz="2400"/>
            </a:pPr>
            <a:r>
              <a:t>Implementation Phases</a:t>
            </a:r>
          </a:p>
          <a:p>
            <a:pPr>
              <a:defRPr sz="2400"/>
            </a:pPr>
            <a:r>
              <a:t>Critical Tasks</a:t>
            </a:r>
          </a:p>
          <a:p>
            <a:pPr>
              <a:defRPr sz="2400"/>
            </a:pPr>
            <a:r>
              <a:t>Success Metrics</a:t>
            </a:r>
          </a:p>
          <a:p>
            <a:pPr>
              <a:defRPr sz="2400"/>
            </a:pPr>
            <a:r>
              <a:t>Technology Stack</a:t>
            </a:r>
          </a:p>
          <a:p>
            <a:pPr>
              <a:defRPr sz="2400"/>
            </a:pPr>
            <a:r>
              <a:t>Timeline &amp; Estimates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Role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Responsible for CI/CD pipelines, infrastructure automation, monitoring, and deployment orchestration</a:t>
            </a:r>
          </a:p>
          <a:p>
            <a:br/>
            <a:pPr>
              <a:defRPr sz="2200" b="1"/>
            </a:pPr>
            <a:r>
              <a:t>Key Responsibilities:</a:t>
            </a:r>
          </a:p>
          <a:p>
            <a:pPr lvl="1">
              <a:defRPr sz="1800"/>
            </a:pPr>
            <a:r>
              <a:t>Phase 2: Infrastructure Migration</a:t>
            </a:r>
          </a:p>
          <a:p>
            <a:pPr lvl="1">
              <a:defRPr sz="1800"/>
            </a:pPr>
            <a:r>
              <a:t>Phase 5: CI/CD &amp; Monitoring</a:t>
            </a:r>
          </a:p>
          <a:p>
            <a:pPr lvl="1">
              <a:defRPr sz="1800"/>
            </a:pPr>
            <a:r>
              <a:t>Phase 6: Production Hardening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2: Infrastructure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3-4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Set up PostgreSQL 15+ with connection pooling</a:t>
            </a:r>
          </a:p>
          <a:p>
            <a:pPr lvl="1">
              <a:defRPr sz="1600"/>
            </a:pPr>
            <a:r>
              <a:t>Configure MinIO (self-hosted S3)</a:t>
            </a:r>
          </a:p>
          <a:p>
            <a:pPr lvl="1">
              <a:defRPr sz="1600"/>
            </a:pPr>
            <a:r>
              <a:t>Test horizontal scaling with 2+ instances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5: CI/CD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10-11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Create GitHub Actions workflows</a:t>
            </a:r>
          </a:p>
          <a:p>
            <a:pPr lvl="1">
              <a:defRPr sz="1600"/>
            </a:pPr>
            <a:r>
              <a:t>Build deployment automation (staging, production)</a:t>
            </a:r>
          </a:p>
          <a:p>
            <a:pPr lvl="1">
              <a:defRPr sz="1600"/>
            </a:pPr>
            <a:r>
              <a:t>Implement blue-green deployment</a:t>
            </a:r>
          </a:p>
          <a:p>
            <a:pPr lvl="1">
              <a:defRPr sz="1600"/>
            </a:pPr>
            <a:r>
              <a:t>Set up staging environment</a:t>
            </a:r>
          </a:p>
          <a:p>
            <a:pPr lvl="1">
              <a:defRPr sz="1600"/>
            </a:pPr>
            <a:r>
              <a:t>Implement Prometheus /metrics endpoint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6: Production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None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Load testing with 100+ concurrent users</a:t>
            </a:r>
          </a:p>
          <a:p>
            <a:pPr lvl="1">
              <a:defRPr sz="1600"/>
            </a:pPr>
            <a:r>
              <a:t>Implement automated backups</a:t>
            </a:r>
          </a:p>
          <a:p>
            <a:pPr lvl="1">
              <a:defRPr sz="1600"/>
            </a:pPr>
            <a:r>
              <a:t>Test restoration procedures</a:t>
            </a:r>
          </a:p>
          <a:p>
            <a:pPr lvl="1">
              <a:defRPr sz="1600"/>
            </a:pPr>
            <a:r>
              <a:t>Configure SSL/TLS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A9E0"/>
                </a:solidFill>
              </a:defRPr>
            </a:pPr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A745"/>
                </a:solidFill>
              </a:defRPr>
            </a:pPr>
            <a:r>
              <a:t>✓ CI pipeline runtime: &lt; 15 minutes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Deployment time: &lt; 5 minutes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Application uptime: &gt; 99.9%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Load testing capacity: 100+ concurrent users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Backup frequency: Daily automated backups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Recovery time objective (RTO): &lt; 1 hour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GitHub Actions</a:t>
            </a:r>
          </a:p>
          <a:p>
            <a:pPr>
              <a:defRPr sz="1800"/>
            </a:pPr>
            <a:r>
              <a:t>Docker &amp; Docker Compose</a:t>
            </a:r>
          </a:p>
          <a:p>
            <a:pPr>
              <a:defRPr sz="1800"/>
            </a:pPr>
            <a:r>
              <a:t>PostgreSQL 15+</a:t>
            </a:r>
          </a:p>
          <a:p>
            <a:pPr>
              <a:defRPr sz="1800"/>
            </a:pPr>
            <a:r>
              <a:t>Redis</a:t>
            </a:r>
          </a:p>
          <a:p>
            <a:pPr>
              <a:defRPr sz="1800"/>
            </a:pPr>
            <a:r>
              <a:t>MinIO (S3-compatible)</a:t>
            </a:r>
          </a:p>
          <a:p>
            <a:pPr>
              <a:defRPr sz="1800"/>
            </a:pPr>
            <a:r>
              <a:t>Prometheus</a:t>
            </a:r>
          </a:p>
          <a:p>
            <a:pPr>
              <a:defRPr sz="1800"/>
            </a:pPr>
            <a:r>
              <a:t>Grafana</a:t>
            </a:r>
          </a:p>
          <a:p>
            <a:pPr>
              <a:defRPr sz="1800"/>
            </a:pPr>
            <a:r>
              <a:t>Sentry</a:t>
            </a:r>
          </a:p>
          <a:p>
            <a:pPr>
              <a:defRPr sz="1800"/>
            </a:pPr>
            <a:r>
              <a:t>nginx (reverse proxy)</a:t>
            </a:r>
          </a:p>
          <a:p>
            <a:pPr>
              <a:defRPr sz="1800"/>
            </a:pPr>
            <a:r>
              <a:t>Locust/k6 (load testing)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Timeline &amp;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phase_2: 40 hours (1 week)</a:t>
            </a:r>
          </a:p>
          <a:p>
            <a:pPr>
              <a:defRPr sz="2000"/>
            </a:pPr>
            <a:r>
              <a:t>phase_5: 80 hours (2 weeks)</a:t>
            </a:r>
          </a:p>
          <a:p>
            <a:pPr>
              <a:defRPr sz="2000"/>
            </a:pPr>
            <a:r>
              <a:t>phase_6: 40 hours (1 week)</a:t>
            </a:r>
          </a:p>
          <a:p>
            <a:pPr>
              <a:defRPr sz="2000"/>
            </a:pPr>
            <a:r>
              <a:t>total: 160 hours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A9E0"/>
                </a:solidFill>
              </a:defRPr>
            </a:pPr>
            <a:r>
              <a:t>Let's Build Production-Ready Software!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/>
            </a:pPr>
            <a:r>
              <a:t>Next Steps:</a:t>
            </a:r>
          </a:p>
          <a:p>
            <a:pPr lvl="1">
              <a:defRPr sz="2000"/>
            </a:pPr>
            <a:r>
              <a:t>Review this implementation guide</a:t>
            </a:r>
          </a:p>
          <a:p>
            <a:pPr lvl="1">
              <a:defRPr sz="2000"/>
            </a:pPr>
            <a:r>
              <a:t>Set up your development environment</a:t>
            </a:r>
          </a:p>
          <a:p>
            <a:pPr lvl="1">
              <a:defRPr sz="2000"/>
            </a:pPr>
            <a:r>
              <a:t>Start with Phase 1 critical tasks</a:t>
            </a:r>
          </a:p>
          <a:p>
            <a:pPr lvl="1">
              <a:defRPr sz="2000"/>
            </a:pPr>
            <a:r>
              <a:t>Track progress with success metrics</a:t>
            </a:r>
          </a:p>
          <a:p>
            <a:pPr lvl="1">
              <a:defRPr sz="2000"/>
            </a:pPr>
            <a:r>
              <a:t>Collaborate with other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