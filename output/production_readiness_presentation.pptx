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F4788"/>
                </a:solidFill>
              </a:defRPr>
            </a:pPr>
            <a:r>
              <a:t>Piano 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E5C8A"/>
                </a:solidFill>
              </a:defRPr>
            </a:pPr>
            <a:r>
              <a:t>Production Readiness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December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788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Executive Summary</a:t>
            </a:r>
          </a:p>
          <a:p>
            <a:pPr>
              <a:defRPr sz="2400"/>
            </a:pPr>
            <a:r>
              <a:t>6-Phase Implementation Roadmap</a:t>
            </a:r>
          </a:p>
          <a:p>
            <a:pPr>
              <a:defRPr sz="2400"/>
            </a:pPr>
            <a:r>
              <a:t>Critical Security Issues</a:t>
            </a:r>
          </a:p>
          <a:p>
            <a:pPr>
              <a:defRPr sz="2400"/>
            </a:pPr>
            <a:r>
              <a:t>Resource Requirements</a:t>
            </a:r>
          </a:p>
          <a:p>
            <a:pPr>
              <a:defRPr sz="2400"/>
            </a:pPr>
            <a:r>
              <a:t>Success Metrics</a:t>
            </a:r>
          </a:p>
          <a:p>
            <a:pPr>
              <a:defRPr sz="2400"/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F4788"/>
                </a:solidFill>
              </a:defRPr>
            </a:pPr>
            <a:r>
              <a:t>Current State: 30% Production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DC3545"/>
                </a:solidFill>
              </a:defRPr>
            </a:pPr>
            <a:r>
              <a:t>CRITICAL: Authentication bypassed</a:t>
            </a:r>
          </a:p>
          <a:p>
            <a:pPr>
              <a:defRPr sz="2000" b="1">
                <a:solidFill>
                  <a:srgbClr val="DC3545"/>
                </a:solidFill>
              </a:defRPr>
            </a:pPr>
            <a:r>
              <a:t>CRITICAL: Hardcoded secret keys</a:t>
            </a:r>
          </a:p>
          <a:p>
            <a:pPr>
              <a:defRPr sz="2000"/>
            </a:pPr>
            <a:r>
              <a:t>Testing coverage: 12-15% (need 80%)</a:t>
            </a:r>
          </a:p>
          <a:p>
            <a:pPr>
              <a:defRPr sz="2000"/>
            </a:pPr>
            <a:r>
              <a:t>SQLite database (production blocker)</a:t>
            </a:r>
          </a:p>
          <a:p>
            <a:pPr>
              <a:defRPr sz="2000"/>
            </a:pPr>
            <a:r>
              <a:t>No CI/CD pipeline</a:t>
            </a:r>
          </a:p>
          <a:p>
            <a:pPr>
              <a:defRPr sz="2000"/>
            </a:pPr>
            <a:r>
              <a:t>Minimal accessibility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A9E0"/>
                </a:solidFill>
              </a:defRPr>
            </a:pPr>
            <a:r>
              <a:t>Target State: 100% Production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28A745"/>
                </a:solidFill>
              </a:defRPr>
            </a:pPr>
            <a:r>
              <a:t>✓ Zero security vulnerabilities</a:t>
            </a:r>
          </a:p>
          <a:p>
            <a:pPr>
              <a:defRPr sz="2200" b="1">
                <a:solidFill>
                  <a:srgbClr val="28A745"/>
                </a:solidFill>
              </a:defRPr>
            </a:pPr>
            <a:r>
              <a:t>✓ 80%+ test coverage</a:t>
            </a:r>
          </a:p>
          <a:p>
            <a:pPr>
              <a:defRPr sz="2200" b="1">
                <a:solidFill>
                  <a:srgbClr val="28A745"/>
                </a:solidFill>
              </a:defRPr>
            </a:pPr>
            <a:r>
              <a:t>✓ PostgreSQL + S3/MinIO + Redis</a:t>
            </a:r>
          </a:p>
          <a:p>
            <a:pPr>
              <a:defRPr sz="2200" b="1">
                <a:solidFill>
                  <a:srgbClr val="28A745"/>
                </a:solidFill>
              </a:defRPr>
            </a:pPr>
            <a:r>
              <a:t>✓ Full CI/CD pipeline</a:t>
            </a:r>
          </a:p>
          <a:p>
            <a:pPr>
              <a:defRPr sz="2200" b="1">
                <a:solidFill>
                  <a:srgbClr val="28A745"/>
                </a:solidFill>
              </a:defRPr>
            </a:pPr>
            <a:r>
              <a:t>✓ WCAG AA accessibility</a:t>
            </a:r>
          </a:p>
          <a:p>
            <a:pPr>
              <a:defRPr sz="2200" b="1">
                <a:solidFill>
                  <a:srgbClr val="28A745"/>
                </a:solidFill>
              </a:defRPr>
            </a:pPr>
            <a:r>
              <a:t>✓ Comprehensive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788"/>
                </a:solidFill>
              </a:defRPr>
            </a:pPr>
            <a:r>
              <a:t>🔒 Phase 1: Security &amp;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>
                <a:solidFill>
                  <a:srgbClr val="646464"/>
                </a:solidFill>
              </a:defRPr>
            </a:pPr>
            <a:r>
              <a:t>Weeks 1-2</a:t>
            </a:r>
          </a:p>
          <a:p>
            <a:br/>
            <a:pPr>
              <a:defRPr sz="2200" b="1"/>
            </a:pPr>
            <a:r>
              <a:t>Goal: Eliminate critical security vulnerabilities</a:t>
            </a:r>
          </a:p>
          <a:p>
            <a:br/>
            <a:pPr>
              <a:defRPr sz="2000" b="1"/>
            </a:pPr>
            <a:r>
              <a:t>Key Deliverables:</a:t>
            </a:r>
          </a:p>
          <a:p>
            <a:pPr lvl="1">
              <a:defRPr sz="1800"/>
            </a:pPr>
            <a:r>
              <a:t>Fix authentication bypass</a:t>
            </a:r>
          </a:p>
          <a:p>
            <a:pPr lvl="1">
              <a:defRPr sz="1800"/>
            </a:pPr>
            <a:r>
              <a:t>Replace hardcoded secrets</a:t>
            </a:r>
          </a:p>
          <a:p>
            <a:pPr lvl="1">
              <a:defRPr sz="1800"/>
            </a:pPr>
            <a:r>
              <a:t>Add rate limiting</a:t>
            </a:r>
          </a:p>
          <a:p>
            <a:pPr lvl="1">
              <a:defRPr sz="1800"/>
            </a:pPr>
            <a:r>
              <a:t>Implement security headers</a:t>
            </a:r>
          </a:p>
          <a:p>
            <a:pPr lvl="1">
              <a:defRPr sz="1800"/>
            </a:pPr>
            <a:r>
              <a:t>Structured logging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788"/>
                </a:solidFill>
              </a:defRPr>
            </a:pPr>
            <a:r>
              <a:t>🏗️ Phase 2: Infrastructure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>
                <a:solidFill>
                  <a:srgbClr val="646464"/>
                </a:solidFill>
              </a:defRPr>
            </a:pPr>
            <a:r>
              <a:t>Weeks 3-4</a:t>
            </a:r>
          </a:p>
          <a:p>
            <a:br/>
            <a:pPr>
              <a:defRPr sz="2200" b="1"/>
            </a:pPr>
            <a:r>
              <a:t>Goal: Migrate to production-grade database and storage</a:t>
            </a:r>
          </a:p>
          <a:p>
            <a:br/>
            <a:pPr>
              <a:defRPr sz="2000" b="1"/>
            </a:pPr>
            <a:r>
              <a:t>Key Deliverables:</a:t>
            </a:r>
          </a:p>
          <a:p>
            <a:pPr lvl="1">
              <a:defRPr sz="1800"/>
            </a:pPr>
            <a:r>
              <a:t>PostgreSQL migration</a:t>
            </a:r>
          </a:p>
          <a:p>
            <a:pPr lvl="1">
              <a:defRPr sz="1800"/>
            </a:pPr>
            <a:r>
              <a:t>Redis caching layer</a:t>
            </a:r>
          </a:p>
          <a:p>
            <a:pPr lvl="1">
              <a:defRPr sz="1800"/>
            </a:pPr>
            <a:r>
              <a:t>S3/MinIO file storage</a:t>
            </a:r>
          </a:p>
          <a:p>
            <a:pPr lvl="1">
              <a:defRPr sz="1800"/>
            </a:pPr>
            <a:r>
              <a:t>Horizontal scaling</a:t>
            </a:r>
          </a:p>
          <a:p>
            <a:pPr lvl="1">
              <a:defRPr sz="1800"/>
            </a:pPr>
            <a:r>
              <a:t>Database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788"/>
                </a:solidFill>
              </a:defRPr>
            </a:pPr>
            <a:r>
              <a:t>✅ Phase 3: Testing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>
                <a:solidFill>
                  <a:srgbClr val="646464"/>
                </a:solidFill>
              </a:defRPr>
            </a:pPr>
            <a:r>
              <a:t>Weeks 5-7</a:t>
            </a:r>
          </a:p>
          <a:p>
            <a:br/>
            <a:pPr>
              <a:defRPr sz="2200" b="1"/>
            </a:pPr>
            <a:r>
              <a:t>Goal: Achieve 80% test coverage</a:t>
            </a:r>
          </a:p>
          <a:p>
            <a:br/>
            <a:pPr>
              <a:defRPr sz="2000" b="1"/>
            </a:pPr>
            <a:r>
              <a:t>Key Deliverables:</a:t>
            </a:r>
          </a:p>
          <a:p>
            <a:pPr lvl="1">
              <a:defRPr sz="1800"/>
            </a:pPr>
            <a:r>
              <a:t>215+ backend tests</a:t>
            </a:r>
          </a:p>
          <a:p>
            <a:pPr lvl="1">
              <a:defRPr sz="1800"/>
            </a:pPr>
            <a:r>
              <a:t>150+ frontend tests</a:t>
            </a:r>
          </a:p>
          <a:p>
            <a:pPr lvl="1">
              <a:defRPr sz="1800"/>
            </a:pPr>
            <a:r>
              <a:t>20+ E2E tests</a:t>
            </a:r>
          </a:p>
          <a:p>
            <a:pPr lvl="1">
              <a:defRPr sz="1800"/>
            </a:pPr>
            <a:r>
              <a:t>Code quality tools</a:t>
            </a:r>
          </a:p>
          <a:p>
            <a:pPr lvl="1">
              <a:defRPr sz="1800"/>
            </a:pPr>
            <a:r>
              <a:t>Pre-commit hooks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788"/>
                </a:solidFill>
              </a:defRPr>
            </a:pPr>
            <a:r>
              <a:t>👥 Phase 4: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>
                <a:solidFill>
                  <a:srgbClr val="646464"/>
                </a:solidFill>
              </a:defRPr>
            </a:pPr>
            <a:r>
              <a:t>Weeks 8-9</a:t>
            </a:r>
          </a:p>
          <a:p>
            <a:br/>
            <a:pPr>
              <a:defRPr sz="2200" b="1"/>
            </a:pPr>
            <a:r>
              <a:t>Goal: User-centered design with WCAG AA compliance</a:t>
            </a:r>
          </a:p>
          <a:p>
            <a:br/>
            <a:pPr>
              <a:defRPr sz="2000" b="1"/>
            </a:pPr>
            <a:r>
              <a:t>Key Deliverables:</a:t>
            </a:r>
          </a:p>
          <a:p>
            <a:pPr lvl="1">
              <a:defRPr sz="1800"/>
            </a:pPr>
            <a:r>
              <a:t>User authentication UI</a:t>
            </a:r>
          </a:p>
          <a:p>
            <a:pPr lvl="1">
              <a:defRPr sz="1800"/>
            </a:pPr>
            <a:r>
              <a:t>Onboarding wizard</a:t>
            </a:r>
          </a:p>
          <a:p>
            <a:pPr lvl="1">
              <a:defRPr sz="1800"/>
            </a:pPr>
            <a:r>
              <a:t>Accessibility audit</a:t>
            </a:r>
          </a:p>
          <a:p>
            <a:pPr lvl="1">
              <a:defRPr sz="1800"/>
            </a:pPr>
            <a:r>
              <a:t>Notification system</a:t>
            </a:r>
          </a:p>
          <a:p>
            <a:pPr lvl="1">
              <a:defRPr sz="1800"/>
            </a:pPr>
            <a:r>
              <a:t>Help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788"/>
                </a:solidFill>
              </a:defRPr>
            </a:pPr>
            <a:r>
              <a:t>📊 Phase 5: CI/CD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>
                <a:solidFill>
                  <a:srgbClr val="646464"/>
                </a:solidFill>
              </a:defRPr>
            </a:pPr>
            <a:r>
              <a:t>Weeks 10-11</a:t>
            </a:r>
          </a:p>
          <a:p>
            <a:br/>
            <a:pPr>
              <a:defRPr sz="2200" b="1"/>
            </a:pPr>
            <a:r>
              <a:t>Goal: Automated deployment and full observability</a:t>
            </a:r>
          </a:p>
          <a:p>
            <a:br/>
            <a:pPr>
              <a:defRPr sz="2000" b="1"/>
            </a:pPr>
            <a:r>
              <a:t>Key Deliverables:</a:t>
            </a:r>
          </a:p>
          <a:p>
            <a:pPr lvl="1">
              <a:defRPr sz="1800"/>
            </a:pPr>
            <a:r>
              <a:t>GitHub Actions CI/CD</a:t>
            </a:r>
          </a:p>
          <a:p>
            <a:pPr lvl="1">
              <a:defRPr sz="1800"/>
            </a:pPr>
            <a:r>
              <a:t>Prometheus metrics</a:t>
            </a:r>
          </a:p>
          <a:p>
            <a:pPr lvl="1">
              <a:defRPr sz="1800"/>
            </a:pPr>
            <a:r>
              <a:t>Grafana dashboards</a:t>
            </a:r>
          </a:p>
          <a:p>
            <a:pPr lvl="1">
              <a:defRPr sz="1800"/>
            </a:pPr>
            <a:r>
              <a:t>Sentry error tracking</a:t>
            </a:r>
          </a:p>
          <a:p>
            <a:pPr lvl="1">
              <a:defRPr sz="1800"/>
            </a:pPr>
            <a:r>
              <a:t>Operational runbooks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788"/>
                </a:solidFill>
              </a:defRPr>
            </a:pPr>
            <a:r>
              <a:t>🚀 Phase 6: Production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>
                <a:solidFill>
                  <a:srgbClr val="646464"/>
                </a:solidFill>
              </a:defRPr>
            </a:pPr>
            <a:r>
              <a:t>Week 12</a:t>
            </a:r>
          </a:p>
          <a:p>
            <a:br/>
            <a:pPr>
              <a:defRPr sz="2200" b="1"/>
            </a:pPr>
            <a:r>
              <a:t>Goal: Final testing and launch preparation</a:t>
            </a:r>
          </a:p>
          <a:p>
            <a:br/>
            <a:pPr>
              <a:defRPr sz="2000" b="1"/>
            </a:pPr>
            <a:r>
              <a:t>Key Deliverables:</a:t>
            </a:r>
          </a:p>
          <a:p>
            <a:pPr lvl="1">
              <a:defRPr sz="1800"/>
            </a:pPr>
            <a:r>
              <a:t>Security audit (OWASP)</a:t>
            </a:r>
          </a:p>
          <a:p>
            <a:pPr lvl="1">
              <a:defRPr sz="1800"/>
            </a:pPr>
            <a:r>
              <a:t>Load testing (100+ users)</a:t>
            </a:r>
          </a:p>
          <a:p>
            <a:pPr lvl="1">
              <a:defRPr sz="1800"/>
            </a:pPr>
            <a:r>
              <a:t>Disaster recovery testing</a:t>
            </a:r>
          </a:p>
          <a:p>
            <a:pPr lvl="1">
              <a:defRPr sz="1800"/>
            </a:pPr>
            <a:r>
              <a:t>Launch checklist</a:t>
            </a:r>
          </a:p>
          <a:p>
            <a:pPr lvl="1">
              <a:defRPr sz="1800"/>
            </a:pPr>
            <a:r>
              <a:t>GO LIVE!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A9E0"/>
                </a:solidFill>
              </a:defRPr>
            </a:pPr>
            <a:r>
              <a:t>Let's Make Piano Keys Production-Ready!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/>
            </a:pPr>
            <a:r>
              <a:t>Next Steps:</a:t>
            </a:r>
          </a:p>
          <a:p>
            <a:pPr lvl="1">
              <a:defRPr sz="2200"/>
            </a:pPr>
            <a:r>
              <a:t>Review and approve this plan</a:t>
            </a:r>
          </a:p>
          <a:p>
            <a:pPr lvl="1">
              <a:defRPr sz="2200"/>
            </a:pPr>
            <a:r>
              <a:t>Start with Phase 1 (Security)</a:t>
            </a:r>
          </a:p>
          <a:p>
            <a:pPr lvl="1">
              <a:defRPr sz="2200"/>
            </a:pPr>
            <a:r>
              <a:t>Create feature branch</a:t>
            </a:r>
          </a:p>
          <a:p>
            <a:pPr lvl="1">
              <a:defRPr sz="2200"/>
            </a:pPr>
            <a:r>
              <a:t>Track progress weekly</a:t>
            </a:r>
          </a:p>
          <a:p>
            <a:pPr lvl="1">
              <a:defRPr sz="2200"/>
            </a:pPr>
            <a:r>
              <a:t>Launch in 12 weeks!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